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0" r:id="rId4"/>
    <p:sldId id="271" r:id="rId5"/>
    <p:sldId id="278" r:id="rId6"/>
    <p:sldId id="279" r:id="rId7"/>
    <p:sldId id="272" r:id="rId8"/>
    <p:sldId id="273" r:id="rId9"/>
    <p:sldId id="274" r:id="rId10"/>
    <p:sldId id="260" r:id="rId11"/>
    <p:sldId id="261" r:id="rId12"/>
    <p:sldId id="258" r:id="rId13"/>
    <p:sldId id="259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80" r:id="rId23"/>
    <p:sldId id="281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02B84-B86A-45C4-B954-38CBE7408660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DBA98-69CF-4138-B145-0BE789BB7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557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4364C-0AB9-38FB-AAEE-839469765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177F7-AF91-FC86-33C4-E8356C4B8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88919-65AB-6C41-35CF-C98A5207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77659-4468-32F7-3448-B71DFF79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D6351-2193-08F5-FB0F-9F2942F2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622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5E441-56B3-EB09-9C76-A23D8765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1D2C-BC71-99AC-8DF5-5FA1D3657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27543-2120-F68F-C2EB-2693BD4A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D155A-0419-3453-5E37-06343FCB0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E9D2-01F0-5B2E-E7BF-3E3C0FB2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84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35DC-1838-7EBD-6E1A-39BC63B3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4A985-A033-31D9-B1AB-D4FD33E4E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47AEC-971A-ABAC-F3F7-8A582F70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C56AA-244A-C4D1-17B9-5A592544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EF276-4B2A-3E8E-FC04-EEBF9AD6B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9191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B2AC-0201-C108-3386-0D9E00BA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34B79-1198-B5D6-254F-C3DE9FF3D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196BB-E779-AAEA-5C76-4334633D6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E4081-096C-09CC-6A84-663B7BBE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11691-2753-E0B1-1E6E-85C2C861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58C6F-0C21-5308-47E9-B71269C2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9968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0B500-D205-8621-BCFE-F08C1E69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F1801-58B5-6882-9ACC-39FD9D8B5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A5E31-7E6E-C51C-FE09-0189D4DA9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0ECA60-72B8-796F-4094-67F75BAA4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DC08F-0C1E-DB0D-597B-6F832050C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560B3-9728-F70B-BF57-3F562FCB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23DC8-2C46-4A17-FF25-CE8509D5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2601D3-3ABC-A7D6-F841-C6612FBD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55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6E9E-EA6D-F328-9584-5C3B27305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421B8-E40D-28A7-44AA-1C1B02627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892CA-385E-BFB5-EF7A-A574B33E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819EC7-BC55-327D-C600-8C344863C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118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074FCF-55B8-A9A7-8079-C79A5FF32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1BAD9-0B1A-3FF9-2743-97817D7A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C4B6E-42D3-F85A-93EE-AFA233F0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45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CAB3A-2543-1526-8C15-F86ACA03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51866-FBD5-B4B7-5548-A7510C10D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BA50C5-0905-1300-A7D1-8E1BBB95F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DF315-8984-B9FE-00A7-374DCC386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0E537-19B4-FB3B-2E92-E0A0C8537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23A362-DE8D-AC5F-58BD-31508524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878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EA80-509F-6B6F-A877-6473F045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52D9D-067A-5D62-1D55-B0548A578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51889-CC9F-6256-E6B9-8EEB48835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ED321-F7A4-2898-9887-2E09AA8A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30CD8-3EBB-E098-774F-C55B9F66A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E3137-F9A1-3F74-A613-B37D7C6E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361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7F11B-6466-4E33-27FD-C7C0D8E4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616E4-129A-15A5-C908-AA661A29B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24BE4-C006-BB28-2407-0A68F78E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557CC-94F1-7E2A-9F17-7EC9A0AA4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91CBF-9C61-2738-55CF-265B3192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DD0A08-638D-635B-402F-C9975B27E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772AAD-06CB-0EBC-2EE1-9FFFAF772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9D069-76A7-EC7D-A3FD-FF8A5184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A980A-E9C4-1483-6E3E-0F73B39E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B534D-EEFB-B093-4354-C3AB7CEF7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56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43400C-BF68-BC10-3655-FD1E9BBF4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7EC1A-B938-81BF-D806-0BF777D04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365EA-6D92-4278-572F-4E45AA1E6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B3C51-5B1A-44BD-B7D6-E5AB94545131}" type="datetimeFigureOut">
              <a:rPr kumimoji="1" lang="ja-JP" altLang="en-US" smtClean="0"/>
              <a:t>2023/9/23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CD522-4C8C-19E6-2EDE-B56E27E49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5FE38-7C9B-A75B-CD28-CA959A3DA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730AA-7028-4106-9766-5A10CC85AC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60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-up of a person's face&#10;&#10;Description automatically generated">
            <a:extLst>
              <a:ext uri="{FF2B5EF4-FFF2-40B4-BE49-F238E27FC236}">
                <a16:creationId xmlns:a16="http://schemas.microsoft.com/office/drawing/2014/main" id="{6B5F68A1-F171-2A3B-56E1-1C61D1362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28" y="0"/>
            <a:ext cx="9797143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178488-F405-7341-E467-F2C7E43A9B3E}"/>
              </a:ext>
            </a:extLst>
          </p:cNvPr>
          <p:cNvSpPr txBox="1"/>
          <p:nvPr/>
        </p:nvSpPr>
        <p:spPr>
          <a:xfrm>
            <a:off x="1576253" y="2451463"/>
            <a:ext cx="340940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latin typeface="Sitka Subheading Semibold" pitchFamily="2" charset="0"/>
              </a:rPr>
              <a:t>Hi!</a:t>
            </a:r>
            <a:br>
              <a:rPr kumimoji="1" lang="en-US" altLang="ja-JP" sz="4400" dirty="0">
                <a:latin typeface="Sitka Subheading Semibold" pitchFamily="2" charset="0"/>
              </a:rPr>
            </a:br>
            <a:r>
              <a:rPr kumimoji="1" lang="en-US" altLang="ja-JP" sz="4400" dirty="0">
                <a:latin typeface="Sitka Subheading Semibold" pitchFamily="2" charset="0"/>
              </a:rPr>
              <a:t>I’m Degly</a:t>
            </a:r>
            <a:endParaRPr kumimoji="1" lang="ja-JP" altLang="en-US" sz="4400" dirty="0">
              <a:latin typeface="Sitka Subheading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97E96-BF48-CB3C-FA12-4C44B9ED0924}"/>
              </a:ext>
            </a:extLst>
          </p:cNvPr>
          <p:cNvSpPr txBox="1"/>
          <p:nvPr/>
        </p:nvSpPr>
        <p:spPr>
          <a:xfrm>
            <a:off x="1576253" y="3992880"/>
            <a:ext cx="2764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ahnschrift Light" panose="020B0502040204020203" pitchFamily="34" charset="0"/>
              </a:rPr>
              <a:t>Extended Realities Enthusiast </a:t>
            </a:r>
          </a:p>
          <a:p>
            <a:r>
              <a:rPr lang="en-US" altLang="ja-JP" sz="1200" dirty="0">
                <a:latin typeface="Bahnschrift Light" panose="020B0502040204020203" pitchFamily="34" charset="0"/>
              </a:rPr>
              <a:t>and Systems and Computer Engineer</a:t>
            </a:r>
            <a:endParaRPr kumimoji="1" lang="ja-JP" altLang="en-US" sz="4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041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a beard and a pixelated face&#10;&#10;Description automatically generated">
            <a:extLst>
              <a:ext uri="{FF2B5EF4-FFF2-40B4-BE49-F238E27FC236}">
                <a16:creationId xmlns:a16="http://schemas.microsoft.com/office/drawing/2014/main" id="{78ACCD84-4D69-D754-E2A9-FDB4C697C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28" y="0"/>
            <a:ext cx="9797143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178488-F405-7341-E467-F2C7E43A9B3E}"/>
              </a:ext>
            </a:extLst>
          </p:cNvPr>
          <p:cNvSpPr txBox="1"/>
          <p:nvPr/>
        </p:nvSpPr>
        <p:spPr>
          <a:xfrm>
            <a:off x="1576253" y="1950720"/>
            <a:ext cx="34094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400" dirty="0">
                <a:latin typeface="Sitka Subheading Semibold" pitchFamily="2" charset="0"/>
              </a:rPr>
              <a:t>I am</a:t>
            </a:r>
          </a:p>
          <a:p>
            <a:r>
              <a:rPr lang="en-US" altLang="ja-JP" sz="4400" dirty="0">
                <a:latin typeface="Sitka Subheading Semibold" pitchFamily="2" charset="0"/>
              </a:rPr>
              <a:t>an </a:t>
            </a:r>
          </a:p>
          <a:p>
            <a:r>
              <a:rPr kumimoji="1" lang="en-US" altLang="ja-JP" sz="4400" dirty="0">
                <a:latin typeface="Sitka Subheading Semibold" pitchFamily="2" charset="0"/>
              </a:rPr>
              <a:t>innovator</a:t>
            </a:r>
            <a:endParaRPr kumimoji="1" lang="ja-JP" altLang="en-US" sz="4400" dirty="0">
              <a:latin typeface="Sitka Subheading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97E96-BF48-CB3C-FA12-4C44B9ED0924}"/>
              </a:ext>
            </a:extLst>
          </p:cNvPr>
          <p:cNvSpPr txBox="1"/>
          <p:nvPr/>
        </p:nvSpPr>
        <p:spPr>
          <a:xfrm>
            <a:off x="1576253" y="3992880"/>
            <a:ext cx="276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Bahnschrift Light" panose="020B0502040204020203" pitchFamily="34" charset="0"/>
              </a:rPr>
              <a:t>Check out my projects</a:t>
            </a:r>
            <a:endParaRPr kumimoji="1" lang="ja-JP" altLang="en-US" sz="4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47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en-US" altLang="ja-JP" sz="3600">
                <a:solidFill>
                  <a:schemeClr val="tx1">
                    <a:lumMod val="85000"/>
                    <a:lumOff val="15000"/>
                  </a:schemeClr>
                </a:solidFill>
              </a:rPr>
              <a:t>https://www.deglypava.com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DAA4CC-B146-0634-9BFF-F4D92C2CE2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609" b="6056"/>
          <a:stretch/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6461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741391"/>
            <a:ext cx="6394120" cy="1056929"/>
          </a:xfrm>
        </p:spPr>
        <p:txBody>
          <a:bodyPr anchor="b">
            <a:normAutofit/>
          </a:bodyPr>
          <a:lstStyle/>
          <a:p>
            <a:r>
              <a:rPr lang="en-US" altLang="ja-JP" sz="3200" dirty="0"/>
              <a:t>Check my website for an interactive portfolio</a:t>
            </a:r>
            <a:endParaRPr kumimoji="1" lang="ja-JP" altLang="en-US" sz="3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32392A8-324A-84C6-561D-5DC0AEDC14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4" b="29802"/>
          <a:stretch/>
        </p:blipFill>
        <p:spPr>
          <a:xfrm>
            <a:off x="8565863" y="10"/>
            <a:ext cx="3626136" cy="229719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1" y="1884680"/>
            <a:ext cx="6394119" cy="4546600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 dirty="0"/>
              <a:t>Developed a personal website to showcase projects and skills, featuring a uniquely generated background using GLSL and Three.js.</a:t>
            </a:r>
          </a:p>
          <a:p>
            <a:pPr>
              <a:lnSpc>
                <a:spcPct val="150000"/>
              </a:lnSpc>
            </a:pPr>
            <a:r>
              <a:rPr lang="en-US" altLang="ja-JP" sz="1400" dirty="0"/>
              <a:t>Adapted a Samsung AR Emoji as the centerpiece model, which is animated and rigged for dynamic visual effects. He dances!</a:t>
            </a:r>
          </a:p>
          <a:p>
            <a:pPr>
              <a:lnSpc>
                <a:spcPct val="150000"/>
              </a:lnSpc>
            </a:pPr>
            <a:r>
              <a:rPr lang="en-US" altLang="ja-JP" sz="1400" dirty="0"/>
              <a:t>Animated the model through </a:t>
            </a:r>
            <a:r>
              <a:rPr lang="en-US" altLang="ja-JP" sz="1400" dirty="0" err="1"/>
              <a:t>Mixamo</a:t>
            </a:r>
            <a:r>
              <a:rPr lang="en-US" altLang="ja-JP" sz="1400" dirty="0"/>
              <a:t>, adding dynamic movement and personality to its appearance.</a:t>
            </a:r>
          </a:p>
          <a:p>
            <a:pPr>
              <a:lnSpc>
                <a:spcPct val="150000"/>
              </a:lnSpc>
            </a:pPr>
            <a:r>
              <a:rPr lang="en-US" altLang="ja-JP" sz="1400" dirty="0"/>
              <a:t>Designed a distinct version of my name's model in Blender, allowing its placement anywhere in the real world via Google's augmented reality Model Viewer.</a:t>
            </a:r>
          </a:p>
          <a:p>
            <a:pPr>
              <a:lnSpc>
                <a:spcPct val="150000"/>
              </a:lnSpc>
            </a:pPr>
            <a:r>
              <a:rPr lang="en-US" altLang="ja-JP" sz="1400" dirty="0"/>
              <a:t>Enhanced user engagement by integrating interactions and animations utilizing Three.js, providing a dynamic and immersive experience on the website.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A56911-1B45-33A1-A697-0935830D7F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59" r="-4" b="8357"/>
          <a:stretch/>
        </p:blipFill>
        <p:spPr>
          <a:xfrm>
            <a:off x="8565863" y="2278678"/>
            <a:ext cx="3626138" cy="22972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BE113EF-01B5-F9A8-8098-1CFB614888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589" r="-4" b="18407"/>
          <a:stretch/>
        </p:blipFill>
        <p:spPr>
          <a:xfrm>
            <a:off x="8565863" y="4569719"/>
            <a:ext cx="3626136" cy="2297209"/>
          </a:xfrm>
          <a:prstGeom prst="rect">
            <a:avLst/>
          </a:prstGeom>
        </p:spPr>
      </p:pic>
      <p:grpSp>
        <p:nvGrpSpPr>
          <p:cNvPr id="63" name="Group 58">
            <a:extLst>
              <a:ext uri="{FF2B5EF4-FFF2-40B4-BE49-F238E27FC236}">
                <a16:creationId xmlns:a16="http://schemas.microsoft.com/office/drawing/2014/main" id="{8656E49C-2884-40A9-B24E-D0EF520C2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6CC0050-4887-A8D2-0FCB-61B92484E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0">
              <a:extLst>
                <a:ext uri="{FF2B5EF4-FFF2-40B4-BE49-F238E27FC236}">
                  <a16:creationId xmlns:a16="http://schemas.microsoft.com/office/drawing/2014/main" id="{2676C536-8769-71A5-B040-22E6D961E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7917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5623" y="4517279"/>
            <a:ext cx="8543500" cy="947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en-US" altLang="ja-JP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Pupil Mimicry in HCI with Virtual Agents</a:t>
            </a:r>
          </a:p>
        </p:txBody>
      </p:sp>
      <p:pic>
        <p:nvPicPr>
          <p:cNvPr id="6" name="Picture 5" descr="A person's face with text&#10;&#10;Description automatically generated">
            <a:extLst>
              <a:ext uri="{FF2B5EF4-FFF2-40B4-BE49-F238E27FC236}">
                <a16:creationId xmlns:a16="http://schemas.microsoft.com/office/drawing/2014/main" id="{A7362A4F-5B0A-DB81-D67B-A4036E4D26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8631"/>
          <a:stretch/>
        </p:blipFill>
        <p:spPr>
          <a:xfrm>
            <a:off x="-1" y="10"/>
            <a:ext cx="3048260" cy="3964665"/>
          </a:xfrm>
          <a:prstGeom prst="rect">
            <a:avLst/>
          </a:prstGeom>
        </p:spPr>
      </p:pic>
      <p:pic>
        <p:nvPicPr>
          <p:cNvPr id="8" name="Picture 7" descr="A cartoon of a person's face&#10;&#10;Description automatically generated">
            <a:extLst>
              <a:ext uri="{FF2B5EF4-FFF2-40B4-BE49-F238E27FC236}">
                <a16:creationId xmlns:a16="http://schemas.microsoft.com/office/drawing/2014/main" id="{284F5E4C-E353-60FB-AFBB-E76F02B360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"/>
          <a:stretch/>
        </p:blipFill>
        <p:spPr>
          <a:xfrm>
            <a:off x="3048259" y="10"/>
            <a:ext cx="3059047" cy="3964665"/>
          </a:xfrm>
          <a:prstGeom prst="rect">
            <a:avLst/>
          </a:prstGeom>
        </p:spPr>
      </p:pic>
      <p:pic>
        <p:nvPicPr>
          <p:cNvPr id="4" name="Picture 3" descr="A person's face with text&#10;&#10;Description automatically generated">
            <a:extLst>
              <a:ext uri="{FF2B5EF4-FFF2-40B4-BE49-F238E27FC236}">
                <a16:creationId xmlns:a16="http://schemas.microsoft.com/office/drawing/2014/main" id="{7D547A9A-4FF7-7683-6868-7734195BE0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3"/>
          <a:stretch/>
        </p:blipFill>
        <p:spPr>
          <a:xfrm>
            <a:off x="6102918" y="10"/>
            <a:ext cx="3040825" cy="3964665"/>
          </a:xfrm>
          <a:prstGeom prst="rect">
            <a:avLst/>
          </a:prstGeom>
        </p:spPr>
      </p:pic>
      <p:pic>
        <p:nvPicPr>
          <p:cNvPr id="10" name="Picture 9" descr="A cartoon of a person's face&#10;&#10;Description automatically generated">
            <a:extLst>
              <a:ext uri="{FF2B5EF4-FFF2-40B4-BE49-F238E27FC236}">
                <a16:creationId xmlns:a16="http://schemas.microsoft.com/office/drawing/2014/main" id="{0C8F5E33-7271-198C-22D5-69B83AB76C7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" r="2318" b="3"/>
          <a:stretch/>
        </p:blipFill>
        <p:spPr>
          <a:xfrm>
            <a:off x="9143743" y="10"/>
            <a:ext cx="3054659" cy="3964665"/>
          </a:xfrm>
          <a:prstGeom prst="rect">
            <a:avLst/>
          </a:prstGeom>
        </p:spPr>
      </p:pic>
      <p:grpSp>
        <p:nvGrpSpPr>
          <p:cNvPr id="12" name="Group 14">
            <a:extLst>
              <a:ext uri="{FF2B5EF4-FFF2-40B4-BE49-F238E27FC236}">
                <a16:creationId xmlns:a16="http://schemas.microsoft.com/office/drawing/2014/main" id="{5F24D7FD-FFCD-2D66-1EC4-D851266C7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3859260"/>
            <a:ext cx="12207200" cy="123363"/>
            <a:chOff x="-5025" y="6737718"/>
            <a:chExt cx="12207200" cy="12336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6A7CEE-0537-81A7-5EF9-5566880050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6">
              <a:extLst>
                <a:ext uri="{FF2B5EF4-FFF2-40B4-BE49-F238E27FC236}">
                  <a16:creationId xmlns:a16="http://schemas.microsoft.com/office/drawing/2014/main" id="{F0095BF0-2C26-C3B2-4CA8-A8F105B9F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6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8632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kumimoji="1" lang="en-US" altLang="ja-JP" sz="4600" dirty="0"/>
              <a:t>Pupil Mimicry in HCI with Virtual Agents</a:t>
            </a:r>
            <a:endParaRPr kumimoji="1" lang="ja-JP" altLang="en-US" sz="4600" dirty="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onnsiteX0" fmla="*/ 0 w 4343400"/>
              <a:gd name="connsiteY0" fmla="*/ 0 h 18288"/>
              <a:gd name="connsiteX1" fmla="*/ 577052 w 4343400"/>
              <a:gd name="connsiteY1" fmla="*/ 0 h 18288"/>
              <a:gd name="connsiteX2" fmla="*/ 1067235 w 4343400"/>
              <a:gd name="connsiteY2" fmla="*/ 0 h 18288"/>
              <a:gd name="connsiteX3" fmla="*/ 1600853 w 4343400"/>
              <a:gd name="connsiteY3" fmla="*/ 0 h 18288"/>
              <a:gd name="connsiteX4" fmla="*/ 2264773 w 4343400"/>
              <a:gd name="connsiteY4" fmla="*/ 0 h 18288"/>
              <a:gd name="connsiteX5" fmla="*/ 2841825 w 4343400"/>
              <a:gd name="connsiteY5" fmla="*/ 0 h 18288"/>
              <a:gd name="connsiteX6" fmla="*/ 3375442 w 4343400"/>
              <a:gd name="connsiteY6" fmla="*/ 0 h 18288"/>
              <a:gd name="connsiteX7" fmla="*/ 4343400 w 4343400"/>
              <a:gd name="connsiteY7" fmla="*/ 0 h 18288"/>
              <a:gd name="connsiteX8" fmla="*/ 4343400 w 4343400"/>
              <a:gd name="connsiteY8" fmla="*/ 18288 h 18288"/>
              <a:gd name="connsiteX9" fmla="*/ 3722914 w 4343400"/>
              <a:gd name="connsiteY9" fmla="*/ 18288 h 18288"/>
              <a:gd name="connsiteX10" fmla="*/ 3189297 w 4343400"/>
              <a:gd name="connsiteY10" fmla="*/ 18288 h 18288"/>
              <a:gd name="connsiteX11" fmla="*/ 2481943 w 4343400"/>
              <a:gd name="connsiteY11" fmla="*/ 18288 h 18288"/>
              <a:gd name="connsiteX12" fmla="*/ 1904891 w 4343400"/>
              <a:gd name="connsiteY12" fmla="*/ 18288 h 18288"/>
              <a:gd name="connsiteX13" fmla="*/ 1414707 w 4343400"/>
              <a:gd name="connsiteY13" fmla="*/ 18288 h 18288"/>
              <a:gd name="connsiteX14" fmla="*/ 750788 w 4343400"/>
              <a:gd name="connsiteY14" fmla="*/ 18288 h 18288"/>
              <a:gd name="connsiteX15" fmla="*/ 0 w 4343400"/>
              <a:gd name="connsiteY15" fmla="*/ 18288 h 18288"/>
              <a:gd name="connsiteX16" fmla="*/ 0 w 43434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en-US" altLang="ja-JP" sz="1400" dirty="0"/>
              <a:t>Designed and developed an interactive Unity environment using </a:t>
            </a:r>
            <a:r>
              <a:rPr lang="en-US" altLang="ja-JP" sz="1400" dirty="0" err="1"/>
              <a:t>OpenXR</a:t>
            </a:r>
            <a:r>
              <a:rPr lang="en-US" altLang="ja-JP" sz="1400" dirty="0"/>
              <a:t> and Blender to explore pupil mimicry.</a:t>
            </a:r>
          </a:p>
          <a:p>
            <a:r>
              <a:rPr lang="en-US" altLang="ja-JP" sz="1400" dirty="0"/>
              <a:t>Managed to create realistic real-time pupil changes.</a:t>
            </a:r>
          </a:p>
          <a:p>
            <a:r>
              <a:rPr lang="en-US" altLang="ja-JP" sz="1400" dirty="0"/>
              <a:t>Proved that Humans feel a connection with a virtual avatar and generate social unconscious responses.</a:t>
            </a:r>
          </a:p>
          <a:p>
            <a:r>
              <a:rPr lang="en-US" altLang="ja-JP" sz="1400" dirty="0"/>
              <a:t>Integrated C++ and C# scripts for precise eye-tracking integration, enhancing the realism of the experience.</a:t>
            </a:r>
          </a:p>
          <a:p>
            <a:r>
              <a:rPr lang="en-US" altLang="ja-JP" sz="1400" dirty="0"/>
              <a:t>Implemented advanced programming concepts including Dependency Injection and Reactive Programming for efficient code organization and responsiveness.</a:t>
            </a:r>
          </a:p>
          <a:p>
            <a:r>
              <a:rPr lang="en-US" altLang="ja-JP" sz="1400" dirty="0"/>
              <a:t>Prioritized a seamless user experience (UX) design for smooth and intuitive interactions within the environment.</a:t>
            </a:r>
          </a:p>
        </p:txBody>
      </p:sp>
      <p:pic>
        <p:nvPicPr>
          <p:cNvPr id="11" name="Picture 10" descr="A cartoon of a person's face&#10;&#10;Description automatically generated">
            <a:extLst>
              <a:ext uri="{FF2B5EF4-FFF2-40B4-BE49-F238E27FC236}">
                <a16:creationId xmlns:a16="http://schemas.microsoft.com/office/drawing/2014/main" id="{B60DAD7E-CD95-0917-F0CA-D114A2D1C7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"/>
          <a:stretch/>
        </p:blipFill>
        <p:spPr>
          <a:xfrm>
            <a:off x="6585402" y="362384"/>
            <a:ext cx="2225595" cy="2884488"/>
          </a:xfrm>
          <a:prstGeom prst="rect">
            <a:avLst/>
          </a:prstGeom>
        </p:spPr>
      </p:pic>
      <p:pic>
        <p:nvPicPr>
          <p:cNvPr id="13" name="Picture 12" descr="A cartoon of a person's face&#10;&#10;Description automatically generated">
            <a:extLst>
              <a:ext uri="{FF2B5EF4-FFF2-40B4-BE49-F238E27FC236}">
                <a16:creationId xmlns:a16="http://schemas.microsoft.com/office/drawing/2014/main" id="{88F3C195-3694-D5CE-A5F5-30F950B619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" r="2318" b="3"/>
          <a:stretch/>
        </p:blipFill>
        <p:spPr>
          <a:xfrm>
            <a:off x="9414923" y="362383"/>
            <a:ext cx="2222415" cy="28844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E8033F-F845-A7E5-8A63-7A5B38754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397" y="3470884"/>
            <a:ext cx="5431536" cy="266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7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z="3600" dirty="0"/>
              <a:t>Augmented Reality Filters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85217EF-C55D-4747-E572-D833898B94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23" b="19904"/>
          <a:stretch/>
        </p:blipFill>
        <p:spPr>
          <a:xfrm>
            <a:off x="20" y="-40"/>
            <a:ext cx="12191980" cy="441092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82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0">
            <a:extLst>
              <a:ext uri="{FF2B5EF4-FFF2-40B4-BE49-F238E27FC236}">
                <a16:creationId xmlns:a16="http://schemas.microsoft.com/office/drawing/2014/main" id="{5F255613-AAE8-4321-9EBA-89253DD45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kumimoji="1" lang="en-US" altLang="ja-JP"/>
              <a:t>Augmented Reality Filters</a:t>
            </a:r>
            <a:endParaRPr kumimoji="1" lang="ja-JP" altLang="en-US"/>
          </a:p>
        </p:txBody>
      </p:sp>
      <p:sp>
        <p:nvSpPr>
          <p:cNvPr id="41" name="Freeform: Shape 32">
            <a:extLst>
              <a:ext uri="{FF2B5EF4-FFF2-40B4-BE49-F238E27FC236}">
                <a16:creationId xmlns:a16="http://schemas.microsoft.com/office/drawing/2014/main" id="{5A3987B4-5CBA-4CB7-862B-56A9917A2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6774" y="0"/>
            <a:ext cx="1290924" cy="700685"/>
          </a:xfrm>
          <a:custGeom>
            <a:avLst/>
            <a:gdLst>
              <a:gd name="connsiteX0" fmla="*/ 0 w 1290924"/>
              <a:gd name="connsiteY0" fmla="*/ 0 h 700685"/>
              <a:gd name="connsiteX1" fmla="*/ 125445 w 1290924"/>
              <a:gd name="connsiteY1" fmla="*/ 0 h 700685"/>
              <a:gd name="connsiteX2" fmla="*/ 125445 w 1290924"/>
              <a:gd name="connsiteY2" fmla="*/ 529211 h 700685"/>
              <a:gd name="connsiteX3" fmla="*/ 1040371 w 1290924"/>
              <a:gd name="connsiteY3" fmla="*/ 0 h 700685"/>
              <a:gd name="connsiteX4" fmla="*/ 1290924 w 1290924"/>
              <a:gd name="connsiteY4" fmla="*/ 0 h 700685"/>
              <a:gd name="connsiteX5" fmla="*/ 94085 w 1290924"/>
              <a:gd name="connsiteY5" fmla="*/ 692290 h 700685"/>
              <a:gd name="connsiteX6" fmla="*/ 62724 w 1290924"/>
              <a:gd name="connsiteY6" fmla="*/ 700685 h 700685"/>
              <a:gd name="connsiteX7" fmla="*/ 0 w 1290924"/>
              <a:gd name="connsiteY7" fmla="*/ 637963 h 70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0924" h="700685">
                <a:moveTo>
                  <a:pt x="0" y="0"/>
                </a:moveTo>
                <a:lnTo>
                  <a:pt x="125445" y="0"/>
                </a:lnTo>
                <a:lnTo>
                  <a:pt x="125445" y="529211"/>
                </a:lnTo>
                <a:lnTo>
                  <a:pt x="1040371" y="0"/>
                </a:lnTo>
                <a:lnTo>
                  <a:pt x="1290924" y="0"/>
                </a:lnTo>
                <a:lnTo>
                  <a:pt x="94085" y="692290"/>
                </a:lnTo>
                <a:cubicBezTo>
                  <a:pt x="84551" y="697800"/>
                  <a:pt x="73733" y="700695"/>
                  <a:pt x="62724" y="700685"/>
                </a:cubicBezTo>
                <a:cubicBezTo>
                  <a:pt x="28082" y="700685"/>
                  <a:pt x="0" y="672604"/>
                  <a:pt x="0" y="63796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42" name="Freeform: Shape 34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0770" y="-702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Developed compelling filters and augmented reality (AR) experiences for TikTok, Snapchat, and Instagram, accumulating an impressive 291.4 mil lifetime interactions.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Utilized a diverse range of lens creation tools, including Lens Studio, TikTok Effect House, and Spark AR, to craft innovative and interactive visual content that resonated with users.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Hold certifications as a Meta AR Certified Developer and Spark AR Developer, underscoring expertise in the field.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73EE2B-BA1A-2326-7CD1-F9C2A2F4A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774" y="880072"/>
            <a:ext cx="1409953" cy="2533423"/>
          </a:xfrm>
          <a:custGeom>
            <a:avLst/>
            <a:gdLst/>
            <a:ahLst/>
            <a:cxnLst/>
            <a:rect l="l" t="t" r="r" b="b"/>
            <a:pathLst>
              <a:path w="3064284" h="3064284">
                <a:moveTo>
                  <a:pt x="166483" y="0"/>
                </a:moveTo>
                <a:lnTo>
                  <a:pt x="2897801" y="0"/>
                </a:lnTo>
                <a:cubicBezTo>
                  <a:pt x="2989747" y="0"/>
                  <a:pt x="3064284" y="74537"/>
                  <a:pt x="3064284" y="166483"/>
                </a:cubicBezTo>
                <a:lnTo>
                  <a:pt x="3064284" y="2897801"/>
                </a:lnTo>
                <a:cubicBezTo>
                  <a:pt x="3064284" y="2989747"/>
                  <a:pt x="2989747" y="3064284"/>
                  <a:pt x="2897801" y="3064284"/>
                </a:cubicBezTo>
                <a:lnTo>
                  <a:pt x="166483" y="3064284"/>
                </a:lnTo>
                <a:cubicBezTo>
                  <a:pt x="74537" y="3064284"/>
                  <a:pt x="0" y="2989747"/>
                  <a:pt x="0" y="2897801"/>
                </a:cubicBezTo>
                <a:lnTo>
                  <a:pt x="0" y="166483"/>
                </a:lnTo>
                <a:cubicBezTo>
                  <a:pt x="0" y="74537"/>
                  <a:pt x="74537" y="0"/>
                  <a:pt x="166483" y="0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F6E8D2-BE5E-3937-6B0B-82E8B7704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313" y="496325"/>
            <a:ext cx="1711947" cy="2548728"/>
          </a:xfrm>
          <a:custGeom>
            <a:avLst/>
            <a:gdLst/>
            <a:ahLst/>
            <a:cxnLst/>
            <a:rect l="l" t="t" r="r" b="b"/>
            <a:pathLst>
              <a:path w="2548728" h="2548728">
                <a:moveTo>
                  <a:pt x="107301" y="0"/>
                </a:moveTo>
                <a:lnTo>
                  <a:pt x="2441427" y="0"/>
                </a:lnTo>
                <a:cubicBezTo>
                  <a:pt x="2500688" y="0"/>
                  <a:pt x="2548728" y="48040"/>
                  <a:pt x="2548728" y="107301"/>
                </a:cubicBezTo>
                <a:lnTo>
                  <a:pt x="2548728" y="2441427"/>
                </a:lnTo>
                <a:cubicBezTo>
                  <a:pt x="2548728" y="2500688"/>
                  <a:pt x="2500688" y="2548728"/>
                  <a:pt x="2441427" y="2548728"/>
                </a:cubicBezTo>
                <a:lnTo>
                  <a:pt x="107301" y="2548728"/>
                </a:lnTo>
                <a:cubicBezTo>
                  <a:pt x="48040" y="2548728"/>
                  <a:pt x="0" y="2500688"/>
                  <a:pt x="0" y="2441427"/>
                </a:cubicBezTo>
                <a:lnTo>
                  <a:pt x="0" y="107301"/>
                </a:lnTo>
                <a:cubicBezTo>
                  <a:pt x="0" y="48040"/>
                  <a:pt x="48040" y="0"/>
                  <a:pt x="107301" y="0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6EC0A0-8C2D-A5DA-DE7F-7324315BB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774" y="3624263"/>
            <a:ext cx="1997404" cy="2552700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BE0E77-B5A9-D019-D66A-DDC91D5E97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872" y="3212688"/>
            <a:ext cx="1543898" cy="2533423"/>
          </a:xfrm>
          <a:custGeom>
            <a:avLst/>
            <a:gdLst/>
            <a:ahLst/>
            <a:cxnLst/>
            <a:rect l="l" t="t" r="r" b="b"/>
            <a:pathLst>
              <a:path w="1999274" h="2247255">
                <a:moveTo>
                  <a:pt x="108501" y="0"/>
                </a:moveTo>
                <a:lnTo>
                  <a:pt x="1890773" y="0"/>
                </a:lnTo>
                <a:cubicBezTo>
                  <a:pt x="1950696" y="0"/>
                  <a:pt x="1999274" y="48578"/>
                  <a:pt x="1999274" y="108501"/>
                </a:cubicBezTo>
                <a:lnTo>
                  <a:pt x="1999274" y="2138754"/>
                </a:lnTo>
                <a:cubicBezTo>
                  <a:pt x="1999274" y="2198677"/>
                  <a:pt x="1950696" y="2247255"/>
                  <a:pt x="1890773" y="2247255"/>
                </a:cubicBezTo>
                <a:lnTo>
                  <a:pt x="108501" y="2247255"/>
                </a:lnTo>
                <a:cubicBezTo>
                  <a:pt x="48578" y="2247255"/>
                  <a:pt x="0" y="2198677"/>
                  <a:pt x="0" y="2138754"/>
                </a:cubicBezTo>
                <a:lnTo>
                  <a:pt x="0" y="108501"/>
                </a:lnTo>
                <a:cubicBezTo>
                  <a:pt x="0" y="48578"/>
                  <a:pt x="48578" y="0"/>
                  <a:pt x="108501" y="0"/>
                </a:cubicBezTo>
                <a:close/>
              </a:path>
            </a:pathLst>
          </a:custGeom>
        </p:spPr>
      </p:pic>
      <p:sp>
        <p:nvSpPr>
          <p:cNvPr id="43" name="Freeform: Shape 36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64232" y="6356350"/>
            <a:ext cx="1211855" cy="501650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1FF25AD-D64E-45A0-B2D0-F4A6AB092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95502">
            <a:off x="10118500" y="6009536"/>
            <a:ext cx="1702506" cy="951685"/>
          </a:xfrm>
          <a:custGeom>
            <a:avLst/>
            <a:gdLst>
              <a:gd name="connsiteX0" fmla="*/ 1585229 w 1702506"/>
              <a:gd name="connsiteY0" fmla="*/ 764759 h 951685"/>
              <a:gd name="connsiteX1" fmla="*/ 1623024 w 1702506"/>
              <a:gd name="connsiteY1" fmla="*/ 792810 h 951685"/>
              <a:gd name="connsiteX2" fmla="*/ 1702506 w 1702506"/>
              <a:gd name="connsiteY2" fmla="*/ 951685 h 951685"/>
              <a:gd name="connsiteX3" fmla="*/ 1551862 w 1702506"/>
              <a:gd name="connsiteY3" fmla="*/ 933877 h 951685"/>
              <a:gd name="connsiteX4" fmla="*/ 1513200 w 1702506"/>
              <a:gd name="connsiteY4" fmla="*/ 856627 h 951685"/>
              <a:gd name="connsiteX5" fmla="*/ 1538499 w 1702506"/>
              <a:gd name="connsiteY5" fmla="*/ 770415 h 951685"/>
              <a:gd name="connsiteX6" fmla="*/ 1585229 w 1702506"/>
              <a:gd name="connsiteY6" fmla="*/ 764759 h 951685"/>
              <a:gd name="connsiteX7" fmla="*/ 933455 w 1702506"/>
              <a:gd name="connsiteY7" fmla="*/ 161308 h 951685"/>
              <a:gd name="connsiteX8" fmla="*/ 957797 w 1702506"/>
              <a:gd name="connsiteY8" fmla="*/ 167970 h 951685"/>
              <a:gd name="connsiteX9" fmla="*/ 1286982 w 1702506"/>
              <a:gd name="connsiteY9" fmla="*/ 387616 h 951685"/>
              <a:gd name="connsiteX10" fmla="*/ 1293725 w 1702506"/>
              <a:gd name="connsiteY10" fmla="*/ 477075 h 951685"/>
              <a:gd name="connsiteX11" fmla="*/ 1245453 w 1702506"/>
              <a:gd name="connsiteY11" fmla="*/ 499154 h 951685"/>
              <a:gd name="connsiteX12" fmla="*/ 1245167 w 1702506"/>
              <a:gd name="connsiteY12" fmla="*/ 499154 h 951685"/>
              <a:gd name="connsiteX13" fmla="*/ 1203638 w 1702506"/>
              <a:gd name="connsiteY13" fmla="*/ 484104 h 951685"/>
              <a:gd name="connsiteX14" fmla="*/ 900647 w 1702506"/>
              <a:gd name="connsiteY14" fmla="*/ 281508 h 951685"/>
              <a:gd name="connsiteX15" fmla="*/ 872454 w 1702506"/>
              <a:gd name="connsiteY15" fmla="*/ 196164 h 951685"/>
              <a:gd name="connsiteX16" fmla="*/ 933455 w 1702506"/>
              <a:gd name="connsiteY16" fmla="*/ 161308 h 951685"/>
              <a:gd name="connsiteX17" fmla="*/ 454020 w 1702506"/>
              <a:gd name="connsiteY17" fmla="*/ 13474 h 951685"/>
              <a:gd name="connsiteX18" fmla="*/ 477919 w 1702506"/>
              <a:gd name="connsiteY18" fmla="*/ 21437 h 951685"/>
              <a:gd name="connsiteX19" fmla="*/ 509236 w 1702506"/>
              <a:gd name="connsiteY19" fmla="*/ 84182 h 951685"/>
              <a:gd name="connsiteX20" fmla="*/ 445829 w 1702506"/>
              <a:gd name="connsiteY20" fmla="*/ 139871 h 951685"/>
              <a:gd name="connsiteX21" fmla="*/ 437447 w 1702506"/>
              <a:gd name="connsiteY21" fmla="*/ 139395 h 951685"/>
              <a:gd name="connsiteX22" fmla="*/ 73211 w 1702506"/>
              <a:gd name="connsiteY22" fmla="*/ 137204 h 951685"/>
              <a:gd name="connsiteX23" fmla="*/ 749 w 1702506"/>
              <a:gd name="connsiteY23" fmla="*/ 84082 h 951685"/>
              <a:gd name="connsiteX24" fmla="*/ 53871 w 1702506"/>
              <a:gd name="connsiteY24" fmla="*/ 11621 h 951685"/>
              <a:gd name="connsiteX25" fmla="*/ 58352 w 1702506"/>
              <a:gd name="connsiteY25" fmla="*/ 11093 h 951685"/>
              <a:gd name="connsiteX26" fmla="*/ 454020 w 1702506"/>
              <a:gd name="connsiteY26" fmla="*/ 13474 h 951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02506" h="951685"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lnTo>
                  <a:pt x="1702506" y="951685"/>
                </a:lnTo>
                <a:lnTo>
                  <a:pt x="1551862" y="933877"/>
                </a:lnTo>
                <a:lnTo>
                  <a:pt x="1513200" y="856627"/>
                </a:ln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933455" y="161308"/>
                </a:moveTo>
                <a:cubicBezTo>
                  <a:pt x="941692" y="161855"/>
                  <a:pt x="949960" y="164024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5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89" y="172649"/>
                  <a:pt x="908742" y="159670"/>
                  <a:pt x="933455" y="161308"/>
                </a:cubicBezTo>
                <a:close/>
                <a:moveTo>
                  <a:pt x="454020" y="13474"/>
                </a:moveTo>
                <a:cubicBezTo>
                  <a:pt x="462713" y="14543"/>
                  <a:pt x="470778" y="17324"/>
                  <a:pt x="477919" y="21437"/>
                </a:cubicBez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15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2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ECEAE-1060-E674-DDB0-62C932E93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57189"/>
            <a:ext cx="9795637" cy="110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en-US" altLang="ja-JP" sz="5200"/>
              <a:t>AR Certificates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3D9B6-6709-4888-C1DA-04735A772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803" y="1833765"/>
            <a:ext cx="9805015" cy="78046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kumimoji="1" lang="en-US" altLang="ja-JP" sz="2400"/>
              <a:t>Obtained through Coursera, more certificates at the end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1B6D18-D5D0-33A1-7006-A684746DC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9" y="3052845"/>
            <a:ext cx="3797536" cy="29810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3A8B5D-0D50-4CC2-9FB9-D3D6E3480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386" y="3071833"/>
            <a:ext cx="3797536" cy="29430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B8CCCF-3796-FF30-B53B-596AC32E8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673" y="3076579"/>
            <a:ext cx="3797536" cy="293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6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ja-JP" sz="3200" dirty="0"/>
              <a:t>3D RECONSTRUCTIONS USING</a:t>
            </a:r>
            <a:br>
              <a:rPr kumimoji="1" lang="en-US" altLang="ja-JP" sz="3200" dirty="0"/>
            </a:br>
            <a:r>
              <a:rPr kumimoji="1" lang="en-US" altLang="ja-JP" sz="3200" dirty="0"/>
              <a:t>COLMAP AND MESHLAB</a:t>
            </a:r>
            <a:endParaRPr kumimoji="1" lang="ja-JP" altLang="en-US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5C842A-E630-2A0F-27B3-CD2C94FB4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685" y="1602475"/>
            <a:ext cx="9048997" cy="5090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671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kumimoji="1" lang="en-US" altLang="ja-JP" sz="2800"/>
              <a:t>3D RECONSTRUCTIONS USING</a:t>
            </a:r>
            <a:br>
              <a:rPr kumimoji="1" lang="en-US" altLang="ja-JP" sz="2800"/>
            </a:br>
            <a:r>
              <a:rPr kumimoji="1" lang="en-US" altLang="ja-JP" sz="2800"/>
              <a:t>COLMAP AND MESHLAB</a:t>
            </a:r>
            <a:endParaRPr kumimoji="1" lang="ja-JP" altLang="en-US"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ja-JP" sz="2000" dirty="0"/>
              <a:t>Accomplished an outdoor scene reconstruction through the analysis of 1983 frames extracted from a video.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Executed feature extraction on COLMAP to create a detailed mesh.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Translated the extracted mesh into usable data on Blender using MeshLab.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The project showcases expertise in 3D reconstruction, feature extraction, and mesh processing, contributing to an in-depth understanding of spatial modeling.</a:t>
            </a:r>
          </a:p>
          <a:p>
            <a:pPr>
              <a:lnSpc>
                <a:spcPct val="150000"/>
              </a:lnSpc>
            </a:pPr>
            <a:r>
              <a:rPr lang="en-US" altLang="ja-JP" sz="2000" dirty="0"/>
              <a:t>Project can be used to create AR Scans of people and objects.</a:t>
            </a:r>
            <a:endParaRPr lang="ja-JP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97258-01CA-FDF8-FF63-81CF583C1A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3" r="11578" b="2"/>
          <a:stretch/>
        </p:blipFill>
        <p:spPr bwMode="auto"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087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Slide Background">
            <a:extLst>
              <a:ext uri="{FF2B5EF4-FFF2-40B4-BE49-F238E27FC236}">
                <a16:creationId xmlns:a16="http://schemas.microsoft.com/office/drawing/2014/main" id="{699EBD07-7968-467C-82EE-7283E4651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9514376-9604-819A-6970-1D3F343870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84"/>
          <a:stretch/>
        </p:blipFill>
        <p:spPr>
          <a:xfrm>
            <a:off x="20" y="10"/>
            <a:ext cx="6095979" cy="514348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47227DB-D073-9C6F-0D98-3197EE7C18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736" b="9759"/>
          <a:stretch/>
        </p:blipFill>
        <p:spPr>
          <a:xfrm>
            <a:off x="6096000" y="-269966"/>
            <a:ext cx="6095999" cy="5413463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5143498"/>
            <a:ext cx="12192000" cy="1714502"/>
          </a:xfrm>
          <a:prstGeom prst="rect">
            <a:avLst/>
          </a:prstGeom>
          <a:ln>
            <a:noFill/>
          </a:ln>
          <a:effectLst>
            <a:outerShdw blurRad="596900" dist="330200" dir="1080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5" y="5405955"/>
            <a:ext cx="7015500" cy="11714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Using MediaPip</a:t>
            </a:r>
            <a:r>
              <a:rPr lang="en-US" altLang="ja-JP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 to create a Parallax effect</a:t>
            </a:r>
            <a:endParaRPr kumimoji="1" lang="en-US" altLang="ja-JP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113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kumimoji="1" lang="en-US" altLang="ja-JP" sz="3700" dirty="0"/>
              <a:t>Using </a:t>
            </a:r>
            <a:r>
              <a:rPr kumimoji="1" lang="en-US" altLang="ja-JP" sz="3700" dirty="0" err="1"/>
              <a:t>MediaPip</a:t>
            </a:r>
            <a:r>
              <a:rPr lang="en-US" altLang="ja-JP" sz="3700" dirty="0" err="1"/>
              <a:t>e</a:t>
            </a:r>
            <a:r>
              <a:rPr lang="en-US" altLang="ja-JP" sz="3700" dirty="0"/>
              <a:t> to create a Parallax effect</a:t>
            </a:r>
            <a:endParaRPr kumimoji="1" lang="ja-JP" altLang="en-US" sz="37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Captured and processed </a:t>
            </a:r>
            <a:r>
              <a:rPr lang="en-US" altLang="ja-JP" sz="1500" dirty="0" err="1"/>
              <a:t>facemesh</a:t>
            </a:r>
            <a:r>
              <a:rPr lang="en-US" altLang="ja-JP" sz="1500" dirty="0"/>
              <a:t> data from a webcam feed using </a:t>
            </a:r>
            <a:r>
              <a:rPr lang="en-US" altLang="ja-JP" sz="1500" dirty="0" err="1"/>
              <a:t>MediaPipe</a:t>
            </a:r>
            <a:r>
              <a:rPr lang="en-US" altLang="ja-JP" sz="15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Applied this data to accurately track user movements and actions.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Implemented the tracked movements to create a Motion Parallax effect, enhancing augmented reality experiences without a 3D screen.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Showcased the ability to bridge computer vision and interactive design to create engaging user interactions.</a:t>
            </a:r>
            <a:endParaRPr lang="ja-JP" altLang="en-US" sz="15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FD0575-68BF-88FA-EB38-5744F79F6A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07" r="6436" b="1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8" name="Arc 17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77D5D2-778B-D512-5B8B-376725B9F4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" b="3965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61310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REALTIME RENDERED 3D VISUALIZER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&#10;&#10;Description automatically generated">
            <a:extLst>
              <a:ext uri="{FF2B5EF4-FFF2-40B4-BE49-F238E27FC236}">
                <a16:creationId xmlns:a16="http://schemas.microsoft.com/office/drawing/2014/main" id="{97D15EB4-6CCE-81DC-F34C-6E828A159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778" y="1956511"/>
            <a:ext cx="7155428" cy="477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17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kumimoji="1" lang="en-US" altLang="ja-JP" sz="2800" dirty="0"/>
              <a:t>REALTIME RENDERED 3D VISUALIZER</a:t>
            </a:r>
            <a:endParaRPr kumimoji="1" lang="ja-JP" altLang="en-US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Created a real-time 3D visualizer using THREE-JS (a JavaScript 3D library) and GLSL (OpenGL Shading Language).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Developed a web simulation with a research focus, allowing users to visualize color composition and light elevation within a chosen video.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Extended the experience to virtual reality (VR), providing compatibility with the Oculus Quest 2 headset.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Demonstrated proficiency in WebGL programming and VR integration, contributing to an immersive and interactive visualization tool.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The project showcases expertise in 3D graphics programming, shader development, web simulation, and VR technology.</a:t>
            </a:r>
            <a:endParaRPr lang="ja-JP" altLang="en-US" sz="1500" dirty="0"/>
          </a:p>
        </p:txBody>
      </p:sp>
      <p:pic>
        <p:nvPicPr>
          <p:cNvPr id="3" name="Picture 2" descr="A computer screen shot&#10;&#10;Description automatically generated">
            <a:extLst>
              <a:ext uri="{FF2B5EF4-FFF2-40B4-BE49-F238E27FC236}">
                <a16:creationId xmlns:a16="http://schemas.microsoft.com/office/drawing/2014/main" id="{F0D855D5-3EAA-1B13-0AB8-EBDD47DE00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4" r="21885" b="-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4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50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ja-JP" sz="6600"/>
              <a:t>HoloBrain 2.0</a:t>
            </a:r>
            <a:endParaRPr kumimoji="1" lang="en-US" altLang="ja-JP" sz="6600"/>
          </a:p>
        </p:txBody>
      </p:sp>
      <p:sp>
        <p:nvSpPr>
          <p:cNvPr id="206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oup of people wearing virtual reality goggles&#10;&#10;Description automatically generated">
            <a:extLst>
              <a:ext uri="{FF2B5EF4-FFF2-40B4-BE49-F238E27FC236}">
                <a16:creationId xmlns:a16="http://schemas.microsoft.com/office/drawing/2014/main" id="{2321C641-CB5B-51E0-8B73-A3207A9521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4" r="-2" b="15769"/>
          <a:stretch/>
        </p:blipFill>
        <p:spPr>
          <a:xfrm>
            <a:off x="458832" y="2642616"/>
            <a:ext cx="5336831" cy="3605784"/>
          </a:xfrm>
          <a:prstGeom prst="rect">
            <a:avLst/>
          </a:prstGeom>
        </p:spPr>
      </p:pic>
      <p:pic>
        <p:nvPicPr>
          <p:cNvPr id="2050" name="Picture 2" descr="HB MRI">
            <a:extLst>
              <a:ext uri="{FF2B5EF4-FFF2-40B4-BE49-F238E27FC236}">
                <a16:creationId xmlns:a16="http://schemas.microsoft.com/office/drawing/2014/main" id="{EFB8ED78-E5DF-9002-54D2-6EA737F16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0" r="444" b="1"/>
          <a:stretch/>
        </p:blipFill>
        <p:spPr bwMode="auto">
          <a:xfrm>
            <a:off x="6382847" y="2642616"/>
            <a:ext cx="5357714" cy="360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4557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MRI</a:t>
            </a:r>
            <a:r>
              <a:rPr kumimoji="1" lang="en-US" altLang="ja-JP" sz="2800" dirty="0"/>
              <a:t>-derived brain volumetric rendering on </a:t>
            </a:r>
            <a:r>
              <a:rPr kumimoji="1" lang="en-US" altLang="ja-JP" sz="2800" dirty="0" err="1"/>
              <a:t>hololens</a:t>
            </a:r>
            <a:endParaRPr kumimoji="1" lang="ja-JP" altLang="en-US" sz="28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Developed a C++ shader-based approach to convert MRI brain scans created in Blender into immersive volumetric 3D animations for the HoloLens.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Skillfully applied principles of 3D Math, Linear Algebra, Computer Graphics, and OpenGL to achieve the transformation.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Utilized Unity for crafting a user-centric design, ensuring a seamless and intuitive user experience.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Developed an educational tool utilizing holographic technology to present a floating 3D brain model. 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Benefitted from the capabilities of mixed reality technology to provide an immersive and interactive learning experience.</a:t>
            </a:r>
          </a:p>
        </p:txBody>
      </p:sp>
      <p:pic>
        <p:nvPicPr>
          <p:cNvPr id="4" name="Picture 3" descr="A group of people wearing virtual reality goggles&#10;&#10;Description automatically generated">
            <a:extLst>
              <a:ext uri="{FF2B5EF4-FFF2-40B4-BE49-F238E27FC236}">
                <a16:creationId xmlns:a16="http://schemas.microsoft.com/office/drawing/2014/main" id="{E3E2B5A8-7A09-8F0A-A94B-5ADF9C62198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1" r="3" b="73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3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03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HoloLens AR Car Tracking Game</a:t>
            </a:r>
            <a:endParaRPr kumimoji="1" lang="en-US" altLang="ja-JP" sz="6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yellow car with wheels and wheels&#10;&#10;Description automatically generated">
            <a:extLst>
              <a:ext uri="{FF2B5EF4-FFF2-40B4-BE49-F238E27FC236}">
                <a16:creationId xmlns:a16="http://schemas.microsoft.com/office/drawing/2014/main" id="{55D4B59C-93B6-FAFD-552B-878F28BC82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449301"/>
            <a:ext cx="7214616" cy="393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35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altLang="ja-JP" sz="3200" dirty="0"/>
              <a:t>HoloLens AR Car Tracking Game</a:t>
            </a:r>
            <a:endParaRPr kumimoji="1" lang="ja-JP" altLang="en-US" sz="31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Developed an augmented reality (AR) car tracking project utilizing Vuforia Image Trackers.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Designed an Arduino-based car model integrated with the tracking system.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Leveraged a HoloLens device to create an </a:t>
            </a:r>
            <a:r>
              <a:rPr lang="en-US" altLang="ja-JP" sz="1500" dirty="0" err="1"/>
              <a:t>OpenXR</a:t>
            </a:r>
            <a:r>
              <a:rPr lang="en-US" altLang="ja-JP" sz="1500" dirty="0"/>
              <a:t> Application.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Resulted in a unique gaming experience reminiscent of Mario Kart, where players receive power-ups upon interacting with designated AR markers.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The project underscores expertise in AR technology, hardware integration, and application development, showcasing a playful and engaging use of mixed reality.</a:t>
            </a:r>
          </a:p>
        </p:txBody>
      </p:sp>
      <p:pic>
        <p:nvPicPr>
          <p:cNvPr id="3" name="Picture 2" descr="A yellow car with wheels and wheels&#10;&#10;Description automatically generated">
            <a:extLst>
              <a:ext uri="{FF2B5EF4-FFF2-40B4-BE49-F238E27FC236}">
                <a16:creationId xmlns:a16="http://schemas.microsoft.com/office/drawing/2014/main" id="{DC0D5A7B-2292-BBA7-8328-01261589B5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3" r="37838" b="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3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85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5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Mr</a:t>
            </a:r>
            <a:r>
              <a:rPr lang="en-US" altLang="ja-JP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Manikin Online Clinical Simulation</a:t>
            </a:r>
            <a:endParaRPr kumimoji="1" lang="en-US" altLang="ja-JP" sz="5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performing cpr on a mannequin&#10;&#10;Description automatically generated">
            <a:extLst>
              <a:ext uri="{FF2B5EF4-FFF2-40B4-BE49-F238E27FC236}">
                <a16:creationId xmlns:a16="http://schemas.microsoft.com/office/drawing/2014/main" id="{88B47757-9B22-4F20-1F50-0309B6BA2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007406"/>
            <a:ext cx="7214616" cy="481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52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altLang="ja-JP" dirty="0" err="1"/>
              <a:t>Mr</a:t>
            </a:r>
            <a:r>
              <a:rPr lang="en-US" altLang="ja-JP" dirty="0"/>
              <a:t> Manikin Online Clinical Simulation</a:t>
            </a:r>
            <a:endParaRPr kumimoji="1" lang="ja-JP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ja-JP" sz="1800" dirty="0"/>
              <a:t>Utilized augmented reality to animate Annie, a mannequin instructor, enhancing the teaching of medical techniques like PCR.</a:t>
            </a:r>
          </a:p>
          <a:p>
            <a:pPr>
              <a:lnSpc>
                <a:spcPct val="150000"/>
              </a:lnSpc>
            </a:pPr>
            <a:r>
              <a:rPr lang="en-US" altLang="ja-JP" sz="1800" dirty="0"/>
              <a:t>Employed </a:t>
            </a:r>
            <a:r>
              <a:rPr lang="en-US" altLang="ja-JP" sz="1800" dirty="0" err="1"/>
              <a:t>ARCore</a:t>
            </a:r>
            <a:r>
              <a:rPr lang="en-US" altLang="ja-JP" sz="1800" dirty="0"/>
              <a:t> and </a:t>
            </a:r>
            <a:r>
              <a:rPr lang="en-US" altLang="ja-JP" sz="1800" dirty="0" err="1"/>
              <a:t>ARKit</a:t>
            </a:r>
            <a:r>
              <a:rPr lang="en-US" altLang="ja-JP" sz="1800" dirty="0"/>
              <a:t> for mobile development, ensuring compatibility across Android and iOS platforms.</a:t>
            </a:r>
          </a:p>
          <a:p>
            <a:pPr>
              <a:lnSpc>
                <a:spcPct val="150000"/>
              </a:lnSpc>
            </a:pPr>
            <a:r>
              <a:rPr lang="en-US" altLang="ja-JP" sz="1800" dirty="0"/>
              <a:t>Integrated Photon to enable real-time synchronous multiplayer functionality, enhancing collaborative learning experiences.</a:t>
            </a:r>
          </a:p>
          <a:p>
            <a:pPr>
              <a:lnSpc>
                <a:spcPct val="150000"/>
              </a:lnSpc>
            </a:pPr>
            <a:r>
              <a:rPr lang="en-US" altLang="ja-JP" sz="1800" dirty="0"/>
              <a:t>Employed a combination of collaboration tools, including Slack, Jira, and Git, during the game design phase, promoting seamless teamwork among a diverse team of over 10 members.</a:t>
            </a:r>
          </a:p>
        </p:txBody>
      </p:sp>
      <p:pic>
        <p:nvPicPr>
          <p:cNvPr id="5" name="Picture 4" descr="A group of people in a classroom&#10;&#10;Description automatically generated">
            <a:extLst>
              <a:ext uri="{FF2B5EF4-FFF2-40B4-BE49-F238E27FC236}">
                <a16:creationId xmlns:a16="http://schemas.microsoft.com/office/drawing/2014/main" id="{2D2A025E-3ED1-5D99-C719-EA573C7D74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96" r="1456" b="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41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4935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ja-JP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Facial Emotion Recognition with Deep CNN</a:t>
            </a:r>
            <a:endParaRPr kumimoji="1" lang="en-US" altLang="ja-JP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with a face grid&#10;&#10;Description automatically generated with medium confidence">
            <a:extLst>
              <a:ext uri="{FF2B5EF4-FFF2-40B4-BE49-F238E27FC236}">
                <a16:creationId xmlns:a16="http://schemas.microsoft.com/office/drawing/2014/main" id="{E24D9325-CB0C-C255-6765-3EA16B584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709803"/>
            <a:ext cx="7214616" cy="54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185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373AE-035C-5858-748F-BEF394A9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US" altLang="ja-JP" sz="3100" kern="1200">
                <a:latin typeface="+mj-lt"/>
                <a:ea typeface="+mj-ea"/>
                <a:cs typeface="+mj-cs"/>
              </a:rPr>
              <a:t>Facial Emotion Recognition with Deep CNN</a:t>
            </a:r>
            <a:endParaRPr kumimoji="1" lang="ja-JP" altLang="en-US" sz="31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BEF519E-E37C-2F59-9D3A-33F2AD5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ja-JP" sz="1500" dirty="0"/>
              <a:t>Employed Deep Convolutional Neural Networks (CNNs) and extensive knowledge of emotions to create a Facial Emotion Recognition software.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Achieved a remarkable 65% accuracy in recognizing facial emotions through the utilization of OpenCV and CUDA technologies.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Incorporated a visual element by displaying emojis that correspond to the recognized emotions.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The project underscores expertise in machine learning and computer vision, effectively translating emotion understanding into software. </a:t>
            </a:r>
          </a:p>
          <a:p>
            <a:pPr>
              <a:lnSpc>
                <a:spcPct val="150000"/>
              </a:lnSpc>
            </a:pPr>
            <a:r>
              <a:rPr lang="en-US" altLang="ja-JP" sz="1500" dirty="0"/>
              <a:t>You can watch a humorous video demonstrating the software on my website.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9F44F6-240A-8407-DCCD-26879EE92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163" r="-4" b="-4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6" name="Arc 15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person with a face grid&#10;&#10;Description automatically generated with medium confidence">
            <a:extLst>
              <a:ext uri="{FF2B5EF4-FFF2-40B4-BE49-F238E27FC236}">
                <a16:creationId xmlns:a16="http://schemas.microsoft.com/office/drawing/2014/main" id="{B38D358D-EC37-ED9E-E4B8-9B2560BD5A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" r="8246" b="-4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56197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8578D-9A44-7B1F-8525-3290C1EA0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kumimoji="1" lang="en-US" altLang="ja-JP" sz="5400">
                <a:solidFill>
                  <a:schemeClr val="bg1">
                    <a:lumMod val="95000"/>
                    <a:lumOff val="5000"/>
                  </a:schemeClr>
                </a:solidFill>
              </a:rPr>
              <a:t>Certificates</a:t>
            </a:r>
          </a:p>
        </p:txBody>
      </p:sp>
    </p:spTree>
    <p:extLst>
      <p:ext uri="{BB962C8B-B14F-4D97-AF65-F5344CB8AC3E}">
        <p14:creationId xmlns:p14="http://schemas.microsoft.com/office/powerpoint/2010/main" val="3553647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6B2535-E92C-FCB9-FE1D-A179D302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110" y="321734"/>
            <a:ext cx="3772947" cy="290517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EB47-97D1-929E-3500-34BBDC085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054" y="321734"/>
            <a:ext cx="3736554" cy="29051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318385-5E43-9C1C-69D6-666CD7104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295" y="3631096"/>
            <a:ext cx="3608575" cy="2760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613682-F108-CF9E-3A58-3D2803E3C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561" y="3631096"/>
            <a:ext cx="3573540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68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D55A25D-C110-E05D-1C38-7C033ECFB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280" y="321734"/>
            <a:ext cx="3748607" cy="29051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A90A31-6810-0B3B-64E7-230499C42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992" y="321734"/>
            <a:ext cx="3712678" cy="29051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582B3-BBF8-0DD2-5160-71B8E414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576" y="3631096"/>
            <a:ext cx="3562013" cy="2760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4B72D-6B95-1AA0-272B-299D16857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3325" y="3631096"/>
            <a:ext cx="3562013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999</Words>
  <Application>Microsoft Office PowerPoint</Application>
  <PresentationFormat>Widescreen</PresentationFormat>
  <Paragraphs>77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游ゴシック</vt:lpstr>
      <vt:lpstr>游ゴシック Light</vt:lpstr>
      <vt:lpstr>Arial</vt:lpstr>
      <vt:lpstr>Bahnschrift Light</vt:lpstr>
      <vt:lpstr>Calibri</vt:lpstr>
      <vt:lpstr>Sitka Subheading Semibold</vt:lpstr>
      <vt:lpstr>Office Theme</vt:lpstr>
      <vt:lpstr>PowerPoint Presentation</vt:lpstr>
      <vt:lpstr>PowerPoint Presentation</vt:lpstr>
      <vt:lpstr>https://www.deglypava.com</vt:lpstr>
      <vt:lpstr>Check my website for an interactive portfolio</vt:lpstr>
      <vt:lpstr>Pupil Mimicry in HCI with Virtual Agents</vt:lpstr>
      <vt:lpstr>Pupil Mimicry in HCI with Virtual Agents</vt:lpstr>
      <vt:lpstr>Augmented Reality Filters</vt:lpstr>
      <vt:lpstr>Augmented Reality Filters</vt:lpstr>
      <vt:lpstr>AR Certificates</vt:lpstr>
      <vt:lpstr>3D RECONSTRUCTIONS USING COLMAP AND MESHLAB</vt:lpstr>
      <vt:lpstr>3D RECONSTRUCTIONS USING COLMAP AND MESHLAB</vt:lpstr>
      <vt:lpstr>Using MediaPipe to create a Parallax effect</vt:lpstr>
      <vt:lpstr>Using MediaPipe to create a Parallax effect</vt:lpstr>
      <vt:lpstr>REALTIME RENDERED 3D VISUALIZER</vt:lpstr>
      <vt:lpstr>REALTIME RENDERED 3D VISUALIZER</vt:lpstr>
      <vt:lpstr>HoloBrain 2.0</vt:lpstr>
      <vt:lpstr>MRI-derived brain volumetric rendering on hololens</vt:lpstr>
      <vt:lpstr>HoloLens AR Car Tracking Game</vt:lpstr>
      <vt:lpstr>HoloLens AR Car Tracking Game</vt:lpstr>
      <vt:lpstr>Mr Manikin Online Clinical Simulation</vt:lpstr>
      <vt:lpstr>Mr Manikin Online Clinical Simulation</vt:lpstr>
      <vt:lpstr>Facial Emotion Recognition with Deep CNN</vt:lpstr>
      <vt:lpstr>Facial Emotion Recognition with Deep CNN</vt:lpstr>
      <vt:lpstr>Certificates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Degly Pava</dc:creator>
  <cp:lastModifiedBy>Degly Pava</cp:lastModifiedBy>
  <cp:revision>5</cp:revision>
  <dcterms:created xsi:type="dcterms:W3CDTF">2023-08-17T15:29:11Z</dcterms:created>
  <dcterms:modified xsi:type="dcterms:W3CDTF">2023-09-23T07:53:34Z</dcterms:modified>
</cp:coreProperties>
</file>